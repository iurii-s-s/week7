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Слайд заголов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RU" dirty="0"/>
          </a:p>
        </p:txBody>
      </p:sp>
      <p:sp>
        <p:nvSpPr>
          <p:cNvPr id="16" name="Заполнитель даты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17" name="Заполнитель колонтитула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8" name="Заполнитель номера слайда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ru-RU" dirty="0"/>
              <a:t>Заголовок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Редактировать текст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Содержимое в двух колонка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Редактировать текст</a:t>
            </a:r>
            <a:endParaRPr lang="ru-RU" dirty="0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овый заполнитель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Редактировать текст</a:t>
            </a:r>
            <a:endParaRPr lang="ru-RU"/>
          </a:p>
        </p:txBody>
      </p:sp>
      <p:sp>
        <p:nvSpPr>
          <p:cNvPr id="6" name="Заполнитель содержимого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Заполнитель даты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8" name="Заполнитель колонтитула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Заполнитель номера слайда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даты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3" name="Заполнитель колонтитула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полнитель номера слайда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и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изображения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ru-RU"/>
          </a:p>
        </p:txBody>
      </p:sp>
      <p:sp>
        <p:nvSpPr>
          <p:cNvPr id="4" name="Текстовый заполнитель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ru-RU" smtClean="0"/>
              <a:t>Образец текста</a:t>
            </a:r>
            <a:endParaRPr lang="ru-RU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ru-RU" smtClean="0"/>
            </a:fld>
            <a:endParaRPr lang="ru-RU" dirty="0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ru-RU" smtClean="0"/>
            </a:fld>
            <a:endParaRPr lang="ru-RU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ru-RU"/>
              <a:t>Образец заголовка</a:t>
            </a:r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  <p:sp>
        <p:nvSpPr>
          <p:cNvPr id="3" name="Заполнитель вертикального текста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7" name="Заполнитель содержимого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еч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  <p:sp>
        <p:nvSpPr>
          <p:cNvPr id="7" name="Текстовый заполнитель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>
            <p:custDataLst>
              <p:tags r:id="rId2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>
            <p:custDataLst>
              <p:tags r:id="rId2"/>
            </p:custDataLst>
          </p:nvPr>
        </p:nvSpPr>
        <p:spPr>
          <a:xfrm>
            <a:off x="0" y="0"/>
            <a:ext cx="12188825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>
            <p:custDataLst>
              <p:tags r:id="rId2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72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>
            <p:custDataLst>
              <p:tags r:id="rId2"/>
            </p:custDataLst>
          </p:nvPr>
        </p:nvSpPr>
        <p:spPr>
          <a:xfrm>
            <a:off x="0" y="137848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28.xml"/><Relationship Id="rId18" Type="http://schemas.openxmlformats.org/officeDocument/2006/relationships/tags" Target="../tags/tag127.xml"/><Relationship Id="rId17" Type="http://schemas.openxmlformats.org/officeDocument/2006/relationships/tags" Target="../tags/tag126.xml"/><Relationship Id="rId16" Type="http://schemas.openxmlformats.org/officeDocument/2006/relationships/tags" Target="../tags/tag125.xml"/><Relationship Id="rId15" Type="http://schemas.openxmlformats.org/officeDocument/2006/relationships/tags" Target="../tags/tag124.xml"/><Relationship Id="rId14" Type="http://schemas.openxmlformats.org/officeDocument/2006/relationships/tags" Target="../tags/tag123.xml"/><Relationship Id="rId13" Type="http://schemas.openxmlformats.org/officeDocument/2006/relationships/tags" Target="../tags/tag122.xml"/><Relationship Id="rId12" Type="http://schemas.openxmlformats.org/officeDocument/2006/relationships/tags" Target="../tags/tag12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-заполнитель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>
            <p:custDataLst>
              <p:tags r:id="rId12"/>
            </p:custDataLst>
          </p:nvPr>
        </p:nvSpPr>
        <p:spPr>
          <a:xfrm>
            <a:off x="0" y="0"/>
            <a:ext cx="1450687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图片 8" descr="C:/Users/kingsoft/AppData/Local/Temp/fig2wpp/@svg_UnionUnion_#color-2113&amp;643.svg"/>
          <p:cNvSpPr/>
          <p:nvPr>
            <p:custDataLst>
              <p:tags r:id="rId13"/>
            </p:custDataLst>
          </p:nvPr>
        </p:nvSpPr>
        <p:spPr>
          <a:xfrm>
            <a:off x="9937905" y="2289018"/>
            <a:ext cx="2254095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33.xml"/><Relationship Id="rId4" Type="http://schemas.openxmlformats.org/officeDocument/2006/relationships/image" Target="../media/image2.jpeg"/><Relationship Id="rId3" Type="http://schemas.openxmlformats.org/officeDocument/2006/relationships/image" Target="../media/image1.jpeg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6.xml"/><Relationship Id="rId3" Type="http://schemas.openxmlformats.org/officeDocument/2006/relationships/image" Target="../media/image3.jpeg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9.xml"/><Relationship Id="rId3" Type="http://schemas.openxmlformats.org/officeDocument/2006/relationships/image" Target="../media/image4.jpeg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" Type="http://schemas.openxmlformats.org/officeDocument/2006/relationships/tags" Target="../tags/tag14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tags" Target="../tags/tag146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tags" Target="../tags/tag1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>
            <a:normAutofit fontScale="90000"/>
          </a:bodyPr>
          <a:lstStyle/>
          <a:p>
            <a:r>
              <a:rPr lang="en-US" altLang="en-US" dirty="0">
                <a:ea typeface="+mj-ea"/>
              </a:rPr>
              <a:t>Невуми — выход на рынок Казахстана</a:t>
            </a:r>
            <a:endParaRPr lang="en-US" altLang="en-US" dirty="0">
              <a:ea typeface="+mj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/>
              <a:t>Характеристика рынка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 algn="ctr">
              <a:buNone/>
            </a:pPr>
            <a:r>
              <a:rPr lang="ru-RU" altLang="en-US"/>
              <a:t>Внедрение продукта в частные школы в Алматы/Астане</a:t>
            </a:r>
            <a:endParaRPr lang="ru-RU" altLang="en-US"/>
          </a:p>
        </p:txBody>
      </p:sp>
      <p:pic>
        <p:nvPicPr>
          <p:cNvPr id="4" name="Изображение 3"/>
          <p:cNvPicPr/>
          <p:nvPr/>
        </p:nvPicPr>
        <p:blipFill>
          <a:blip r:embed="rId3"/>
          <a:stretch>
            <a:fillRect/>
          </a:stretch>
        </p:blipFill>
        <p:spPr>
          <a:xfrm>
            <a:off x="1232535" y="2462530"/>
            <a:ext cx="4520565" cy="3430905"/>
          </a:xfrm>
          <a:prstGeom prst="rect">
            <a:avLst/>
          </a:prstGeom>
        </p:spPr>
      </p:pic>
      <p:pic>
        <p:nvPicPr>
          <p:cNvPr id="7" name="Изображение 6"/>
          <p:cNvPicPr/>
          <p:nvPr/>
        </p:nvPicPr>
        <p:blipFill>
          <a:blip r:embed="rId4"/>
          <a:stretch>
            <a:fillRect/>
          </a:stretch>
        </p:blipFill>
        <p:spPr>
          <a:xfrm>
            <a:off x="6786245" y="2462530"/>
            <a:ext cx="4521200" cy="343090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/>
              <a:t>Обоснование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332105" lvl="1" indent="0">
              <a:buNone/>
            </a:pPr>
            <a:r>
              <a:rPr lang="ru-RU" altLang="en-US">
                <a:solidFill>
                  <a:schemeClr val="tx1"/>
                </a:solidFill>
              </a:rPr>
              <a:t>1. В Казахстане </a:t>
            </a:r>
            <a:r>
              <a:rPr lang="en-US" altLang="en-US">
                <a:solidFill>
                  <a:schemeClr val="tx1"/>
                </a:solidFill>
              </a:rPr>
              <a:t>русский язык</a:t>
            </a:r>
            <a:r>
              <a:rPr lang="ru-RU" altLang="en-US">
                <a:solidFill>
                  <a:schemeClr val="tx1"/>
                </a:solidFill>
              </a:rPr>
              <a:t> используется наряду с казахским</a:t>
            </a:r>
            <a:endParaRPr lang="en-US" altLang="en-US">
              <a:solidFill>
                <a:schemeClr val="tx1"/>
              </a:solidFill>
            </a:endParaRPr>
          </a:p>
          <a:p>
            <a:pPr marL="332105" lvl="1" indent="0">
              <a:buNone/>
            </a:pPr>
            <a:r>
              <a:rPr lang="ru-RU" altLang="en-US">
                <a:solidFill>
                  <a:schemeClr val="tx1"/>
                </a:solidFill>
              </a:rPr>
              <a:t>2. Страна находится достаточно близко и рынок открыт для российских предпренимателей</a:t>
            </a:r>
            <a:endParaRPr lang="ru-RU" altLang="en-US">
              <a:solidFill>
                <a:schemeClr val="tx1"/>
              </a:solidFill>
            </a:endParaRPr>
          </a:p>
          <a:p>
            <a:pPr marL="332105" lvl="1" indent="0">
              <a:buNone/>
            </a:pPr>
            <a:r>
              <a:rPr lang="ru-RU" altLang="en-US">
                <a:solidFill>
                  <a:schemeClr val="tx1"/>
                </a:solidFill>
              </a:rPr>
              <a:t>3. Стоймость рекламы будет значительно ниже, в сравнении со многими странами</a:t>
            </a:r>
            <a:endParaRPr lang="ru-RU" altLang="en-US">
              <a:solidFill>
                <a:schemeClr val="tx1"/>
              </a:solidFill>
            </a:endParaRPr>
          </a:p>
          <a:p>
            <a:pPr marL="332105" lvl="1" indent="0">
              <a:buNone/>
            </a:pPr>
            <a:endParaRPr lang="ru-RU" altLang="en-US">
              <a:solidFill>
                <a:schemeClr val="tx1"/>
              </a:solidFill>
            </a:endParaRPr>
          </a:p>
        </p:txBody>
      </p:sp>
      <p:pic>
        <p:nvPicPr>
          <p:cNvPr id="5" name="Изображение 4"/>
          <p:cNvPicPr/>
          <p:nvPr/>
        </p:nvPicPr>
        <p:blipFill>
          <a:blip r:embed="rId3"/>
          <a:stretch>
            <a:fillRect/>
          </a:stretch>
        </p:blipFill>
        <p:spPr>
          <a:xfrm>
            <a:off x="3036570" y="3304540"/>
            <a:ext cx="6234430" cy="30321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/>
              <a:t>Адаптация продукта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ru-RU" altLang="en-US"/>
              <a:t>1. Обязательный перевод интерфейса на казахский (английский опционально)</a:t>
            </a:r>
            <a:endParaRPr lang="ru-RU" altLang="en-US"/>
          </a:p>
          <a:p>
            <a:pPr marL="0" indent="0">
              <a:buNone/>
            </a:pPr>
            <a:r>
              <a:rPr lang="ru-RU" altLang="en-US"/>
              <a:t>2. Реклама через местных образовательных блогеров</a:t>
            </a:r>
            <a:endParaRPr lang="ru-RU" altLang="en-US"/>
          </a:p>
        </p:txBody>
      </p:sp>
      <p:pic>
        <p:nvPicPr>
          <p:cNvPr id="4" name="Изображение 3"/>
          <p:cNvPicPr/>
          <p:nvPr/>
        </p:nvPicPr>
        <p:blipFill>
          <a:blip r:embed="rId3"/>
          <a:stretch>
            <a:fillRect/>
          </a:stretch>
        </p:blipFill>
        <p:spPr>
          <a:xfrm>
            <a:off x="3237865" y="3221990"/>
            <a:ext cx="5716270" cy="30613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ctr"/>
            <a:r>
              <a:rPr lang="en-US" altLang="en-US"/>
              <a:t> Маркетинг: каналы, бюджеты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Целевая аудитория — родители детей 7–15 лет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ru-RU"/>
              <a:t>Google Ads — </a:t>
            </a:r>
            <a:r>
              <a:rPr lang="en-US" altLang="en-US"/>
              <a:t>поддерживающий канал для «горячего» спроса.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ru-RU"/>
              <a:t>Instagram </a:t>
            </a:r>
            <a:r>
              <a:rPr lang="ru-RU" altLang="ru-RU"/>
              <a:t>траница</a:t>
            </a:r>
            <a:r>
              <a:rPr lang="en-US" altLang="ru-RU"/>
              <a:t> — </a:t>
            </a:r>
            <a:r>
              <a:rPr lang="en-US" altLang="en-US"/>
              <a:t>для сегмента Алматы/Астаны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Инфлюенс-маркетинг — ставка на </a:t>
            </a:r>
            <a:r>
              <a:rPr lang="ru-RU" altLang="en-US"/>
              <a:t>малых </a:t>
            </a:r>
            <a:r>
              <a:rPr lang="en-US" altLang="en-US"/>
              <a:t>блогеров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/>
              <a:t>Стратегия выхода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ru-RU" altLang="en-US"/>
              <a:t>П</a:t>
            </a:r>
            <a:r>
              <a:rPr lang="en-US" altLang="en-US"/>
              <a:t>одготовка</a:t>
            </a:r>
            <a:r>
              <a:rPr lang="ru-RU" altLang="en-US"/>
              <a:t> - создание ТОО, адаптация</a:t>
            </a:r>
            <a:endParaRPr lang="ru-RU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ru-RU" altLang="en-US"/>
              <a:t>П</a:t>
            </a:r>
            <a:r>
              <a:rPr lang="en-US" altLang="en-US"/>
              <a:t>илот</a:t>
            </a:r>
            <a:r>
              <a:rPr lang="ru-RU" altLang="en-US"/>
              <a:t> - пробный запуск в отдельных школах или семьях</a:t>
            </a:r>
            <a:endParaRPr lang="ru-RU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ru-RU" altLang="en-US"/>
              <a:t>З</a:t>
            </a:r>
            <a:r>
              <a:rPr lang="en-US" altLang="en-US"/>
              <a:t>апуск</a:t>
            </a:r>
            <a:r>
              <a:rPr lang="ru-RU" altLang="en-US"/>
              <a:t> - полноценный релиз продукта</a:t>
            </a:r>
            <a:endParaRPr lang="ru-RU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ru-RU" altLang="en-US"/>
              <a:t>М</a:t>
            </a:r>
            <a:r>
              <a:rPr lang="en-US" altLang="en-US"/>
              <a:t>асштабирование</a:t>
            </a:r>
            <a:r>
              <a:rPr lang="ru-RU" altLang="en-US"/>
              <a:t> - расширение за пределами Астаны/Алматы</a:t>
            </a:r>
            <a:endParaRPr lang="ru-RU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/>
              <a:t>Риски и ограничения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ru-RU" altLang="en-US"/>
              <a:t>1. </a:t>
            </a:r>
            <a:r>
              <a:rPr lang="en-US" altLang="en-US"/>
              <a:t>Платежи и банки: российское происхождение создаёт риск отказа в обслуживании и заморозки счетов; нужно локальное ТОО и казахстанский платёжный провайдер.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ru-RU" altLang="en-US"/>
              <a:t>2. </a:t>
            </a:r>
            <a:r>
              <a:rPr lang="en-US" altLang="en-US"/>
              <a:t>Репутация: </a:t>
            </a:r>
            <a:r>
              <a:rPr lang="ru-RU" altLang="en-US"/>
              <a:t>плохая репутация у</a:t>
            </a:r>
            <a:r>
              <a:rPr lang="en-US" altLang="en-US"/>
              <a:t> российских компаний</a:t>
            </a:r>
            <a:r>
              <a:rPr lang="ru-RU" altLang="en-US"/>
              <a:t>, могут потребоваться</a:t>
            </a:r>
            <a:r>
              <a:rPr lang="en-US" altLang="en-US"/>
              <a:t> дополнительн</a:t>
            </a:r>
            <a:r>
              <a:rPr lang="ru-RU" altLang="en-US"/>
              <a:t>ые</a:t>
            </a:r>
            <a:r>
              <a:rPr lang="en-US" altLang="en-US"/>
              <a:t> усили</a:t>
            </a:r>
            <a:r>
              <a:rPr lang="ru-RU" altLang="en-US"/>
              <a:t>я</a:t>
            </a:r>
            <a:r>
              <a:rPr lang="en-US" altLang="en-US"/>
              <a:t> по доверию со стороны родителей.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/>
              <a:t>Вывод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457200">
              <a:buNone/>
            </a:pPr>
            <a:r>
              <a:rPr lang="en-US" altLang="en-US"/>
              <a:t>Казахстан — реалистичный первый международный рынок для «Невуми».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Русскоязычная среда, близкая бизнес-культура и низкие затраты на локализацию позволяют выйти на рынок быстрее и дешевле, чем в </a:t>
            </a:r>
            <a:r>
              <a:rPr lang="ru-RU" altLang="en-US"/>
              <a:t>других странах</a:t>
            </a:r>
            <a:r>
              <a:rPr lang="en-US" altLang="en-US"/>
              <a:t>. Казахстан также</a:t>
            </a:r>
            <a:r>
              <a:rPr lang="ru-RU" altLang="en-US"/>
              <a:t> может стать началом</a:t>
            </a:r>
            <a:r>
              <a:rPr lang="en-US" altLang="en-US"/>
              <a:t> для масштабирования в Центральной Азии (Узбекистан, Кыргызстан).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124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82"/>
  <p:tag name="KSO_WM_TEMPLATE_THUMBS_INDEX" val="1、9"/>
</p:tagLst>
</file>

<file path=ppt/tags/tag1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82_1*a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Your title here"/>
</p:tagLst>
</file>

<file path=ppt/tags/tag130.xml><?xml version="1.0" encoding="utf-8"?>
<p:tagLst xmlns:p="http://schemas.openxmlformats.org/presentationml/2006/main">
  <p:tag name="KSO_WM_SPECIAL_SOURCE" val="bdnull"/>
  <p:tag name="KSO_WM_SLIDE_ID" val="custom20233482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2"/>
  <p:tag name="KSO_WM_SLIDE_LAYOUT" val="a_f"/>
  <p:tag name="KSO_WM_SLIDE_LAYOUT_CNT" val="1_1"/>
  <p:tag name="KSO_WM_TEMPLATE_THUMBS_INDEX" val="1、9"/>
  <p:tag name="KSO_WM_SLIDE_THEME_ID" val="3321262"/>
  <p:tag name="KSO_WM_SLIDE_THEME_NAME" val="White Minimalist"/>
</p:tagLst>
</file>

<file path=ppt/tags/tag13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13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1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14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1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14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1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1501</Words>
  <Application>WPS Presentation</Application>
  <PresentationFormat>Широкоэкранный</PresentationFormat>
  <Paragraphs>49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Wingdings</vt:lpstr>
      <vt:lpstr>Lato</vt:lpstr>
      <vt:lpstr>Segoe Print</vt:lpstr>
      <vt:lpstr>Manrope ExtraBold</vt:lpstr>
      <vt:lpstr>Microsoft YaHei</vt:lpstr>
      <vt:lpstr>Arial Unicode MS</vt:lpstr>
      <vt:lpstr>Calibri</vt:lpstr>
      <vt:lpstr>WPS</vt:lpstr>
      <vt:lpstr>Office Theme</vt:lpstr>
      <vt:lpstr>Невуми — выход на рынок Казахстана</vt:lpstr>
      <vt:lpstr>Характеристика рынка</vt:lpstr>
      <vt:lpstr>Обоснование</vt:lpstr>
      <vt:lpstr>Адаптация продукта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Невуми — выход на рынок Казахстана</dc:title>
  <dc:creator/>
  <cp:lastModifiedBy>salur</cp:lastModifiedBy>
  <cp:revision>17</cp:revision>
  <dcterms:created xsi:type="dcterms:W3CDTF">2026-10-22T12:34:00Z</dcterms:created>
  <dcterms:modified xsi:type="dcterms:W3CDTF">2026-10-22T14:30:28Z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1049-12.1.0.29162</vt:lpwstr>
  </property>
  <property fmtid="{D5CDD505-2E9C-101B-9397-08002B2CF9AE}" pid="3" name="ICV">
    <vt:lpwstr>E36E8813E1FA47F9A64E65C14CFC4DDC_12</vt:lpwstr>
  </property>
</Properties>
</file>